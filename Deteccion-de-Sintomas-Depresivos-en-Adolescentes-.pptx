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53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Avenir Next LT Pro" panose="020B0504020202020204" pitchFamily="34" charset="0"/>
      <p:regular r:id="rId13"/>
      <p:bold r:id="rId14"/>
      <p:italic r:id="rId15"/>
      <p:boldItalic r:id="rId16"/>
    </p:embeddedFont>
    <p:embeddedFont>
      <p:font typeface="Avenir Next LT Pro Light" panose="020B0304020202020204" pitchFamily="34" charset="0"/>
      <p:regular r:id="rId17"/>
      <p:italic r:id="rId18"/>
    </p:embeddedFont>
    <p:embeddedFont>
      <p:font typeface="Red Hat Text" panose="020B0604020202020204" charset="0"/>
      <p:regular r:id="rId19"/>
    </p:embeddedFont>
    <p:embeddedFont>
      <p:font typeface="Roboto Bold" panose="02000000000000000000" pitchFamily="2" charset="0"/>
      <p:regular r:id="rId20"/>
      <p:bold r:id="rId21"/>
    </p:embeddedFont>
    <p:embeddedFont>
      <p:font typeface="Roboto Light" panose="02000000000000000000" pitchFamily="2" charset="0"/>
      <p:regular r:id="rId22"/>
      <p:italic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0E7FB3-1A71-FE1D-C9F4-B1041DD4EE55}" v="176" dt="2026-07-26T23:51:31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17EA0-6A27-4EF3-AB88-68AD6408F20B}" type="datetimeFigureOut">
              <a:t>26/07/2026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44633-913D-4AD3-B3D7-A04DC9EA3824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5657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85BB-8B07-4DC9-86F3-2A225C777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0150" y="946404"/>
            <a:ext cx="5728667" cy="2139696"/>
          </a:xfrm>
        </p:spPr>
        <p:txBody>
          <a:bodyPr anchor="b">
            <a:normAutofit/>
          </a:bodyPr>
          <a:lstStyle>
            <a:lvl1pPr algn="l">
              <a:lnSpc>
                <a:spcPct val="130000"/>
              </a:lnSpc>
              <a:defRPr sz="6400" spc="2311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D496A-6E7A-4923-8ED5-B4164125D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0150" y="3511296"/>
            <a:ext cx="5728667" cy="6969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buNone/>
              <a:defRPr sz="2844" b="1" cap="all" spc="1067" baseline="0"/>
            </a:lvl1pPr>
            <a:lvl2pPr marL="812810" indent="0" algn="ctr">
              <a:buNone/>
              <a:defRPr sz="2844"/>
            </a:lvl2pPr>
            <a:lvl3pPr marL="1625620" indent="0" algn="ctr">
              <a:buNone/>
              <a:defRPr sz="2844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E3D20-43DC-4C14-8CFF-18545AED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70CF7-838D-41F7-9297-B5F83BDCEB13}" type="datetimeFigureOut">
              <a:rPr lang="en-US" dirty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FC300-5AFC-418B-85FD-EFA94BD7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C7E81-ED3C-4DB0-8E74-AD2A87E6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‹Nº›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C817C9-850F-4FB6-B93B-CF3076C4A5C1}"/>
              </a:ext>
            </a:extLst>
          </p:cNvPr>
          <p:cNvGrpSpPr/>
          <p:nvPr/>
        </p:nvGrpSpPr>
        <p:grpSpPr>
          <a:xfrm flipH="1">
            <a:off x="0" y="1"/>
            <a:ext cx="425837" cy="247985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9433A8-B67D-4675-AFDE-131069A709FC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CD1C45-6A4D-4237-B39C-2D58F401A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391574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5F8D-0421-4AEC-9C40-A13163EC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7680-115A-411F-AEF6-4AC2096B4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496" y="1514475"/>
            <a:ext cx="7768250" cy="308610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CC193-1304-4D0F-8331-14D4EC08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069DA-BCAC-469D-B81F-5CD529FD1EE6}" type="datetimeFigureOut">
              <a:rPr lang="en-US" dirty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455C1-CD32-4050-BAFF-51CC6B62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AF608-FF11-4CBE-B717-5D56AE67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61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D23A02E-6DCF-427A-8CFD-281B2185C7F0}"/>
              </a:ext>
            </a:extLst>
          </p:cNvPr>
          <p:cNvSpPr/>
          <p:nvPr/>
        </p:nvSpPr>
        <p:spPr>
          <a:xfrm>
            <a:off x="2432239" y="383861"/>
            <a:ext cx="4279523" cy="42795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dist="165100" dir="2220000" algn="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B4C32-F19C-44F3-8EF8-1F506D74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894" y="1282304"/>
            <a:ext cx="3670213" cy="1915420"/>
          </a:xfr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9729-131C-4F78-9DAA-E9EE28EA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6687" y="3405351"/>
            <a:ext cx="3050627" cy="86552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44" b="1" cap="all" spc="1067" baseline="0">
                <a:solidFill>
                  <a:schemeClr val="tx1"/>
                </a:solidFill>
                <a:latin typeface="+mn-lt"/>
              </a:defRPr>
            </a:lvl1pPr>
            <a:lvl2pPr marL="81281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4E608-AC1F-41FB-974A-BD619C6C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B3F2-5297-4D62-BDB7-590764A696AF}" type="datetimeFigureOut">
              <a:rPr lang="en-US" dirty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86158-8B03-45C3-891D-0357B198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B054-E8A2-43FD-B0FB-B1CCFA4B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281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4AA7-6D5A-402E-AD1A-880F2BDB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32B6-F9D8-4A43-B52C-336CFAB00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733" y="1514475"/>
            <a:ext cx="3746264" cy="3118247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0CDD9-5742-4A34-BA72-7CCA72D91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0288" y="1514475"/>
            <a:ext cx="3770966" cy="3118247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783AA-D2AB-4385-A91F-870CB656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FAC0-A4F5-4A85-98AE-9E6BDD843B92}" type="datetimeFigureOut">
              <a:rPr lang="en-US" dirty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AAD9C-5CA2-4DA1-84D3-B1838979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AB3C7-9574-47BC-932D-782BEE99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8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C468-781B-4BC5-8DEA-B9EF2BF9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595" y="276876"/>
            <a:ext cx="7844047" cy="107986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7223F-48E4-491D-AB5D-5FC8A0C5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1382301"/>
            <a:ext cx="3755921" cy="49650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3556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6B764-4B87-42FF-ABAA-69B07B88F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0075" y="1878806"/>
            <a:ext cx="3755921" cy="276344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357B9-406F-4BF9-B8FB-C53421EEF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07046" y="1382301"/>
            <a:ext cx="3745596" cy="49650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3556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0462B-1939-4DAA-A7DD-6BDC95054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07046" y="1878806"/>
            <a:ext cx="3745596" cy="276344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C938B-C4C2-4FA9-85CA-9CD742CD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58DF-B20E-4829-8712-7D40EB90064E}" type="datetimeFigureOut">
              <a:rPr lang="en-US" dirty="0"/>
              <a:t>7/26/2026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D8886-0D28-4D49-8D43-151D37E9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FDDE8-E9F8-4B6C-9A40-829617A7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5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E3D8-6C35-428B-B2F2-251FDE10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737827"/>
            <a:ext cx="7571078" cy="885431"/>
          </a:xfrm>
          <a:solidFill>
            <a:schemeClr val="accent1">
              <a:lumMod val="20000"/>
              <a:lumOff val="80000"/>
            </a:schemeClr>
          </a:solidFill>
          <a:effectLst>
            <a:outerShdw dist="165100" dir="18900000" algn="bl" rotWithShape="0">
              <a:prstClr val="black"/>
            </a:outerShdw>
          </a:effectLst>
        </p:spPr>
        <p:txBody>
          <a:bodyPr/>
          <a:lstStyle>
            <a:lvl1pPr marL="325124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B8015-E11A-42CA-AE88-7BD73F87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52F2A-FD05-43F8-9927-AF9F6AA75EA1}" type="datetimeFigureOut">
              <a:rPr lang="en-US" dirty="0"/>
              <a:t>7/26/2026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09078-34CA-45CD-B479-03906A26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03258-F989-47B2-A643-A60CD8A7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014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A2F31-48B6-40CE-A364-3CE73FD8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12728-8AF2-421E-A3EE-3D32DADA7E63}" type="datetimeFigureOut">
              <a:rPr lang="en-US" dirty="0"/>
              <a:t>7/26/2026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EEA00-F166-41EB-9331-CA99BB70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B051F-F8FC-4FF6-9783-45F9FE7A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862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8635-A5AF-48F4-8CD2-FB0E0111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740569"/>
            <a:ext cx="2949178" cy="1200150"/>
          </a:xfrm>
        </p:spPr>
        <p:txBody>
          <a:bodyPr anchor="t">
            <a:normAutofit/>
          </a:bodyPr>
          <a:lstStyle>
            <a:lvl1pPr>
              <a:defRPr sz="4978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5E0E-DCC0-4781-A608-962B1241B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2369" y="740569"/>
            <a:ext cx="4534172" cy="3655219"/>
          </a:xfrm>
          <a:prstGeom prst="rect">
            <a:avLst/>
          </a:prstGeo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1F43E-3D50-4A1C-A289-B3D0DD0E7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2345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70E3A-6639-4EA0-8305-C1899DAB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64D57-1513-4084-818F-075C9D0922CD}" type="datetimeFigureOut">
              <a:rPr lang="en-US" dirty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AFD57-4189-42FB-B29E-96366E51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5E2EC-8483-4FBC-9D29-C19025FA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825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E581-A090-4AE9-9965-B06BDB52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740569"/>
            <a:ext cx="2949178" cy="1200150"/>
          </a:xfrm>
        </p:spPr>
        <p:txBody>
          <a:bodyPr anchor="t">
            <a:normAutofit/>
          </a:bodyPr>
          <a:lstStyle>
            <a:lvl1pPr>
              <a:defRPr sz="4978" b="1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39DEF4-262F-4ACF-9B29-3D4B819E706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015477" y="740569"/>
            <a:ext cx="4270877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D7CBB-7A6F-441E-9072-2494B952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2345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59692-77BE-4A7D-AA70-635007A6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1DC6D-53F2-404B-944C-46E1F58C3149}" type="datetimeFigureOut">
              <a:rPr lang="en-US" dirty="0"/>
              <a:t>7/26/2026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9A4DA-63AF-4D6A-98DB-E1D0AC74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B7958-B19B-4C23-A82F-DD4E4B91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053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58AD-1CAD-45B3-B83D-DC9D33CD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53F2E-0397-4423-8A88-D0059DEAF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6496" y="1514475"/>
            <a:ext cx="7768250" cy="30861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ADDE1-7025-4FA9-822D-48168508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6330A-4522-49F4-ACCE-A07321703478}" type="datetimeFigureOut">
              <a:rPr lang="en-US" dirty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73E0-F328-46DC-98BE-CA0981F7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52226-010C-494F-8BE8-BF91F355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‹Nº›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89E9C4-9D18-4529-BC0C-68EAE507CDF8}"/>
              </a:ext>
            </a:extLst>
          </p:cNvPr>
          <p:cNvGrpSpPr/>
          <p:nvPr/>
        </p:nvGrpSpPr>
        <p:grpSpPr>
          <a:xfrm flipH="1" flipV="1">
            <a:off x="0" y="2663641"/>
            <a:ext cx="425837" cy="247985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DF5937-0C03-4786-AB62-3CF7CECB92D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AD93DB-2DB0-4B2D-884B-6EC453443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3324884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635D0-31D9-44E1-911D-F7D5D5400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40435" y="468235"/>
            <a:ext cx="1903490" cy="413234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F9230-1FA4-439D-A800-B5F006F07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0075" y="468235"/>
            <a:ext cx="5862407" cy="413234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AB2A3-7055-43AF-8BAB-0A9B7444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C5DDF-A796-4D56-9973-341789785817}" type="datetimeFigureOut">
              <a:rPr lang="en-US" dirty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1821-A311-49CD-BCB4-B4BC8866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7C6A8-813A-486A-AA90-AB28935F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FDE724-0293-4953-AE9D-4D814FA589B0}" type="slidenum">
              <a:rPr lang="en-US" dirty="0"/>
              <a:t>‹Nº›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8C7A17-06CC-442C-A876-A51B2B556508}"/>
              </a:ext>
            </a:extLst>
          </p:cNvPr>
          <p:cNvGrpSpPr/>
          <p:nvPr/>
        </p:nvGrpSpPr>
        <p:grpSpPr>
          <a:xfrm flipH="1" flipV="1">
            <a:off x="0" y="2663641"/>
            <a:ext cx="425837" cy="247985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4C1798A-2980-4F34-8355-7BCB6B295322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D7542C-E4AE-488F-BC75-2E7ED8391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2735124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859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86DAE1-1F65-43B8-A400-95E6DEEDC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496" y="273843"/>
            <a:ext cx="7768250" cy="10788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5C993-A44B-4C2D-818E-4C9000BB0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496" y="1514475"/>
            <a:ext cx="7768250" cy="3086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21B6E-ECC6-47D0-9C14-812B746F1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6261" y="475653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8" spc="178" baseline="0">
                <a:solidFill>
                  <a:schemeClr val="tx1"/>
                </a:solidFill>
              </a:defRPr>
            </a:lvl1pPr>
          </a:lstStyle>
          <a:p>
            <a:fld id="{3716B609-2A26-46AA-B595-3671F5470576}" type="datetimeFigureOut">
              <a:rPr lang="en-US" dirty="0"/>
              <a:t>7/26/2026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9A716-DEA9-48A9-A5BC-0F392D2B4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72150" y="4756532"/>
            <a:ext cx="260259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8" spc="89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B69E-A0E4-4558-9C62-4CD8CDD2A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4747" y="4756532"/>
            <a:ext cx="39467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8" spc="178" baseline="0">
                <a:solidFill>
                  <a:schemeClr val="tx1"/>
                </a:solidFill>
              </a:defRPr>
            </a:lvl1pPr>
          </a:lstStyle>
          <a:p>
            <a:fld id="{8DFDE724-0293-4953-AE9D-4D814FA589B0}" type="slidenum">
              <a:rPr lang="en-US" dirty="0"/>
              <a:t>‹Nº›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6ECC43-D65E-4A7B-A76B-D278A2184166}"/>
              </a:ext>
            </a:extLst>
          </p:cNvPr>
          <p:cNvGrpSpPr/>
          <p:nvPr/>
        </p:nvGrpSpPr>
        <p:grpSpPr>
          <a:xfrm flipV="1">
            <a:off x="8719557" y="2663641"/>
            <a:ext cx="425837" cy="247985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EE443C5-5AB9-407B-A8C3-011BB14FEF0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/>
              <a:ahLst/>
              <a:cxnLst/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38C9FA-DA5E-4785-8F4A-CA481A3A6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404866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20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44" userDrawn="1">
          <p15:clr>
            <a:srgbClr val="F26B43"/>
          </p15:clr>
        </p15:guide>
        <p15:guide id="2" pos="378" userDrawn="1">
          <p15:clr>
            <a:srgbClr val="F26B43"/>
          </p15:clr>
        </p15:guide>
        <p15:guide id="3" pos="5382" userDrawn="1">
          <p15:clr>
            <a:srgbClr val="F26B43"/>
          </p15:clr>
        </p15:guide>
        <p15:guide id="5" orient="horz" pos="954" userDrawn="1">
          <p15:clr>
            <a:srgbClr val="F26B43"/>
          </p15:clr>
        </p15:guide>
        <p15:guide id="6" orient="horz" pos="1296" userDrawn="1">
          <p15:clr>
            <a:srgbClr val="F26B43"/>
          </p15:clr>
        </p15:guide>
        <p15:guide id="7" orient="horz" pos="2898" userDrawn="1">
          <p15:clr>
            <a:srgbClr val="F26B43"/>
          </p15:clr>
        </p15:guide>
        <p15:guide id="8" orient="horz" pos="2574" userDrawn="1">
          <p15:clr>
            <a:srgbClr val="F26B43"/>
          </p15:clr>
        </p15:guide>
        <p15:guide id="9" pos="7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582341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Detección de Síntomas Depresivos en Adolescentes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686720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Algoritmo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de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aprendizaje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profundo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basado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en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tiempo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de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pantalla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y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hábitos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de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sueño</a:t>
            </a:r>
            <a:endParaRPr lang="en-US" sz="1200" dirty="0" err="1">
              <a:latin typeface="Roboto Light"/>
              <a:ea typeface="Roboto Light"/>
              <a:cs typeface="Roboto Light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952577" y="3333750"/>
            <a:ext cx="1541487" cy="227335"/>
          </a:xfrm>
          <a:prstGeom prst="roundRect">
            <a:avLst>
              <a:gd name="adj" fmla="val 7897"/>
            </a:avLst>
          </a:prstGeom>
          <a:noFill/>
          <a:ln w="4763">
            <a:solidFill>
              <a:srgbClr val="F5A3A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42321" y="3378622"/>
            <a:ext cx="1819201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F5A3A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YULIANA ARANGO LÓPEZ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568851" y="3333750"/>
            <a:ext cx="1997794" cy="227335"/>
          </a:xfrm>
          <a:prstGeom prst="roundRect">
            <a:avLst>
              <a:gd name="adj" fmla="val 7897"/>
            </a:avLst>
          </a:prstGeom>
          <a:noFill/>
          <a:ln w="4763">
            <a:solidFill>
              <a:srgbClr val="F5A3A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58594" y="3378622"/>
            <a:ext cx="2275508" cy="137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F5A3A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IA AVANZADA — UTO · JULIO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992981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El Reto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1657350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¿</a:t>
            </a: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Puede</a:t>
            </a: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una</a:t>
            </a: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red neuronal </a:t>
            </a: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estimar</a:t>
            </a: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síntomas</a:t>
            </a: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depresivos</a:t>
            </a: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a </a:t>
            </a: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partir</a:t>
            </a: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de </a:t>
            </a: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hábitos</a:t>
            </a: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digitales</a:t>
            </a: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?</a:t>
            </a:r>
            <a:endParaRPr lang="en-US" sz="1400" dirty="0">
              <a:latin typeface="Roboto Light"/>
              <a:ea typeface="Roboto Light"/>
              <a:cs typeface="Roboto Light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952577" y="2304380"/>
            <a:ext cx="2259137" cy="848246"/>
          </a:xfrm>
          <a:prstGeom prst="roundRect">
            <a:avLst>
              <a:gd name="adj" fmla="val 2646"/>
            </a:avLst>
          </a:prstGeom>
          <a:solidFill>
            <a:srgbClr val="F3E8E8"/>
          </a:solidFill>
          <a:ln/>
        </p:spPr>
      </p:sp>
      <p:sp>
        <p:nvSpPr>
          <p:cNvPr id="6" name="Text 3"/>
          <p:cNvSpPr/>
          <p:nvPr/>
        </p:nvSpPr>
        <p:spPr>
          <a:xfrm>
            <a:off x="4102150" y="2453953"/>
            <a:ext cx="19599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 err="1">
                <a:solidFill>
                  <a:srgbClr val="3B3535"/>
                </a:solidFill>
                <a:latin typeface="Red Hat Text"/>
                <a:ea typeface="Red Hat Text"/>
                <a:cs typeface="Red Hat Text"/>
              </a:rPr>
              <a:t>Pantallas</a:t>
            </a:r>
            <a:endParaRPr lang="en-US" dirty="0" err="1">
              <a:latin typeface="Red Hat Text"/>
              <a:ea typeface="Red Hat Text"/>
              <a:cs typeface="Red Hat Text"/>
            </a:endParaRPr>
          </a:p>
        </p:txBody>
      </p:sp>
      <p:sp>
        <p:nvSpPr>
          <p:cNvPr id="7" name="Text 4"/>
          <p:cNvSpPr/>
          <p:nvPr/>
        </p:nvSpPr>
        <p:spPr>
          <a:xfrm>
            <a:off x="4102150" y="2763664"/>
            <a:ext cx="19599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Uso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excesivo</a:t>
            </a:r>
            <a:endParaRPr lang="en-US" sz="1200">
              <a:latin typeface="Roboto Light"/>
              <a:ea typeface="Roboto Light"/>
              <a:cs typeface="Roboto Light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361286" y="2304380"/>
            <a:ext cx="2259137" cy="848246"/>
          </a:xfrm>
          <a:prstGeom prst="roundRect">
            <a:avLst>
              <a:gd name="adj" fmla="val 2646"/>
            </a:avLst>
          </a:prstGeom>
          <a:solidFill>
            <a:srgbClr val="F3E8E8"/>
          </a:solidFill>
          <a:ln/>
        </p:spPr>
      </p:sp>
      <p:sp>
        <p:nvSpPr>
          <p:cNvPr id="9" name="Text 6"/>
          <p:cNvSpPr/>
          <p:nvPr/>
        </p:nvSpPr>
        <p:spPr>
          <a:xfrm>
            <a:off x="6510858" y="2453953"/>
            <a:ext cx="19599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 err="1">
                <a:solidFill>
                  <a:srgbClr val="3B3535"/>
                </a:solidFill>
                <a:latin typeface="Red Hat Text"/>
                <a:ea typeface="Red Hat Text"/>
                <a:cs typeface="Red Hat Text"/>
              </a:rPr>
              <a:t>Sueño</a:t>
            </a:r>
            <a:endParaRPr lang="en-US" sz="1600" dirty="0">
              <a:latin typeface="Avenir Next LT Pro"/>
              <a:ea typeface="Red Hat Text"/>
              <a:cs typeface="Red Hat Text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510858" y="2763664"/>
            <a:ext cx="1959992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Calidad y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duración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alteradas</a:t>
            </a:r>
            <a:endParaRPr lang="en-US" sz="1200">
              <a:latin typeface="Roboto Light"/>
              <a:ea typeface="Roboto Light"/>
              <a:cs typeface="Roboto Light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952577" y="3302198"/>
            <a:ext cx="4667845" cy="848246"/>
          </a:xfrm>
          <a:prstGeom prst="roundRect">
            <a:avLst>
              <a:gd name="adj" fmla="val 2646"/>
            </a:avLst>
          </a:prstGeom>
          <a:solidFill>
            <a:srgbClr val="F3E8E8"/>
          </a:solidFill>
          <a:ln/>
        </p:spPr>
      </p:sp>
      <p:sp>
        <p:nvSpPr>
          <p:cNvPr id="12" name="Text 9"/>
          <p:cNvSpPr/>
          <p:nvPr/>
        </p:nvSpPr>
        <p:spPr>
          <a:xfrm>
            <a:off x="4102150" y="3451771"/>
            <a:ext cx="43687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 err="1">
                <a:solidFill>
                  <a:srgbClr val="3B3535"/>
                </a:solidFill>
                <a:latin typeface="Red Hat Text"/>
                <a:ea typeface="Red Hat Text"/>
                <a:cs typeface="Red Hat Text"/>
              </a:rPr>
              <a:t>Depresión</a:t>
            </a:r>
            <a:endParaRPr lang="en-US" dirty="0">
              <a:latin typeface="Avenir Next LT Pro"/>
              <a:ea typeface="Red Hat Text"/>
              <a:cs typeface="Red Hat Text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102150" y="3761482"/>
            <a:ext cx="436870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Riesgo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creciente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en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adolescentes</a:t>
            </a:r>
            <a:endParaRPr lang="en-US" sz="1200" err="1">
              <a:latin typeface="Roboto Light"/>
              <a:ea typeface="Roboto Light"/>
              <a:cs typeface="Roboto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16372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Objetivo y Estrategia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448991"/>
            <a:ext cx="5135166" cy="2909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8432" y="1737717"/>
            <a:ext cx="259667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 err="1">
                <a:solidFill>
                  <a:srgbClr val="1F1E1E"/>
                </a:solidFill>
                <a:latin typeface="Red Hat Text"/>
                <a:ea typeface="Red Hat Text"/>
                <a:cs typeface="Red Hat Text"/>
              </a:rPr>
              <a:t>Objetivo</a:t>
            </a:r>
            <a:r>
              <a:rPr lang="en-US" sz="1600" dirty="0">
                <a:solidFill>
                  <a:srgbClr val="1F1E1E"/>
                </a:solidFill>
                <a:latin typeface="Red Hat Text"/>
                <a:ea typeface="Red Hat Text"/>
                <a:cs typeface="Red Hat Text"/>
              </a:rPr>
              <a:t> principal</a:t>
            </a:r>
            <a:endParaRPr lang="en-US" sz="1600">
              <a:latin typeface="Red Hat Text"/>
              <a:ea typeface="Red Hat Text"/>
              <a:cs typeface="Red Hat Text"/>
            </a:endParaRPr>
          </a:p>
        </p:txBody>
      </p:sp>
      <p:sp>
        <p:nvSpPr>
          <p:cNvPr id="5" name="Text 2"/>
          <p:cNvSpPr/>
          <p:nvPr/>
        </p:nvSpPr>
        <p:spPr>
          <a:xfrm>
            <a:off x="6028432" y="2107257"/>
            <a:ext cx="259667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Estimar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puntuación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200" b="1" dirty="0">
                <a:solidFill>
                  <a:srgbClr val="3B3535"/>
                </a:solidFill>
                <a:latin typeface="Roboto Bold"/>
                <a:ea typeface="Roboto Bold"/>
                <a:cs typeface="Roboto Bold"/>
              </a:rPr>
              <a:t>BDI-II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(0–63)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mediante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hábitos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de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pantalla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y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sueño</a:t>
            </a:r>
            <a:endParaRPr lang="en-US" sz="1200" err="1">
              <a:latin typeface="Roboto Light"/>
              <a:ea typeface="Roboto Light"/>
              <a:cs typeface="Roboto Light"/>
            </a:endParaRPr>
          </a:p>
        </p:txBody>
      </p:sp>
      <p:sp>
        <p:nvSpPr>
          <p:cNvPr id="6" name="Text 3"/>
          <p:cNvSpPr/>
          <p:nvPr/>
        </p:nvSpPr>
        <p:spPr>
          <a:xfrm>
            <a:off x="6028432" y="2735610"/>
            <a:ext cx="259667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 err="1">
                <a:solidFill>
                  <a:srgbClr val="1F1E1E"/>
                </a:solidFill>
                <a:latin typeface="Red Hat Text"/>
                <a:ea typeface="Red Hat Text"/>
                <a:cs typeface="Red Hat Text"/>
              </a:rPr>
              <a:t>Metodología</a:t>
            </a:r>
            <a:endParaRPr lang="en-US" sz="1600">
              <a:latin typeface="Red Hat Text"/>
              <a:ea typeface="Red Hat Text"/>
              <a:cs typeface="Red Hat Text"/>
            </a:endParaRPr>
          </a:p>
        </p:txBody>
      </p:sp>
      <p:sp>
        <p:nvSpPr>
          <p:cNvPr id="7" name="Text 4"/>
          <p:cNvSpPr/>
          <p:nvPr/>
        </p:nvSpPr>
        <p:spPr>
          <a:xfrm>
            <a:off x="6028432" y="3105150"/>
            <a:ext cx="2596679" cy="106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Red neuronal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densa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— TensorFlow /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Keras</a:t>
            </a:r>
            <a:endParaRPr lang="en-US" sz="1200" err="1">
              <a:latin typeface="Roboto Light"/>
              <a:ea typeface="Roboto Light"/>
              <a:cs typeface="Roboto Light"/>
            </a:endParaRPr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Aprendizaje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Basado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en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Retos</a:t>
            </a:r>
            <a:endParaRPr lang="en-US" sz="1200">
              <a:latin typeface="Roboto Light"/>
              <a:ea typeface="Roboto Light"/>
              <a:cs typeface="Roboto Light"/>
            </a:endParaRPr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Evaluación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ética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crítica</a:t>
            </a:r>
            <a:endParaRPr lang="en-US" sz="1200" dirty="0" err="1">
              <a:latin typeface="Roboto Light"/>
              <a:ea typeface="Roboto Light"/>
              <a:cs typeface="Roboto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1704"/>
            <a:ext cx="8096845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Estado del Arte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3577" y="1066130"/>
            <a:ext cx="8554045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Revisión</a:t>
            </a:r>
            <a:r>
              <a:rPr lang="en-US" sz="11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1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bibliográfica</a:t>
            </a:r>
            <a:r>
              <a:rPr lang="en-US" sz="11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2020–2025</a:t>
            </a:r>
            <a:endParaRPr lang="en-US" sz="1100">
              <a:latin typeface="Roboto Light"/>
              <a:ea typeface="Roboto Light"/>
              <a:cs typeface="Roboto Light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256508"/>
            <a:ext cx="4037916" cy="36476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2111" y="2342480"/>
            <a:ext cx="388307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F1E1E"/>
                </a:solidFill>
                <a:latin typeface="Red Hat Text"/>
                <a:ea typeface="Red Hat Text"/>
                <a:cs typeface="Red Hat Text"/>
              </a:rPr>
              <a:t>Temas </a:t>
            </a:r>
            <a:r>
              <a:rPr lang="en-US" sz="1600" dirty="0" err="1">
                <a:solidFill>
                  <a:srgbClr val="1F1E1E"/>
                </a:solidFill>
                <a:latin typeface="Red Hat Text"/>
                <a:ea typeface="Red Hat Text"/>
                <a:cs typeface="Red Hat Text"/>
              </a:rPr>
              <a:t>explorados</a:t>
            </a:r>
            <a:endParaRPr lang="en-US" sz="1600">
              <a:latin typeface="Red Hat Text"/>
              <a:ea typeface="Red Hat Text"/>
              <a:cs typeface="Red Hat Text"/>
            </a:endParaRPr>
          </a:p>
        </p:txBody>
      </p:sp>
      <p:sp>
        <p:nvSpPr>
          <p:cNvPr id="6" name="Text 3"/>
          <p:cNvSpPr/>
          <p:nvPr/>
        </p:nvSpPr>
        <p:spPr>
          <a:xfrm>
            <a:off x="4742111" y="2664768"/>
            <a:ext cx="3883075" cy="1205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Fundamentos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del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aprendizaje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profundo</a:t>
            </a:r>
            <a:endParaRPr lang="en-US" sz="1200">
              <a:latin typeface="Roboto Light"/>
              <a:ea typeface="Roboto Light"/>
              <a:cs typeface="Roboto Light"/>
            </a:endParaRPr>
          </a:p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Relación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pantalla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–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depresión</a:t>
            </a:r>
            <a:endParaRPr lang="en-US" sz="1200">
              <a:latin typeface="Roboto Light"/>
              <a:ea typeface="Roboto Light"/>
              <a:cs typeface="Roboto Light"/>
            </a:endParaRPr>
          </a:p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Sueño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como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variable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mediadora</a:t>
            </a:r>
            <a:endParaRPr lang="en-US" sz="1200">
              <a:latin typeface="Roboto Light"/>
              <a:ea typeface="Roboto Light"/>
              <a:cs typeface="Roboto Light"/>
            </a:endParaRPr>
          </a:p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Ética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en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IA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aplicada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a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salud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mental</a:t>
            </a:r>
            <a:endParaRPr lang="en-US" sz="1200">
              <a:latin typeface="Roboto Light"/>
              <a:ea typeface="Roboto Light"/>
              <a:cs typeface="Roboto Light"/>
            </a:endParaRPr>
          </a:p>
          <a:p>
            <a:pPr marL="213360" indent="-213360" algn="l">
              <a:lnSpc>
                <a:spcPct val="127000"/>
              </a:lnSpc>
              <a:buSzPct val="100000"/>
              <a:buChar char="•"/>
            </a:pP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Aprendizaje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por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refuerzo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para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intervenciones</a:t>
            </a:r>
            <a:endParaRPr lang="en-US" sz="1200" dirty="0" err="1">
              <a:latin typeface="Roboto Light"/>
              <a:ea typeface="Roboto Light"/>
              <a:cs typeface="Roboto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0365"/>
            <a:ext cx="8096845" cy="336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El Dataset</a:t>
            </a:r>
            <a:endParaRPr lang="en-US" sz="2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987326"/>
            <a:ext cx="5165154" cy="2926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2845" y="2084561"/>
            <a:ext cx="2652266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 err="1">
                <a:solidFill>
                  <a:srgbClr val="1F1E1E"/>
                </a:solidFill>
                <a:latin typeface="Red Hat Text"/>
                <a:ea typeface="Red Hat Text"/>
                <a:cs typeface="Red Hat Text"/>
              </a:rPr>
              <a:t>Estudio</a:t>
            </a:r>
            <a:r>
              <a:rPr lang="en-US" sz="1400" dirty="0">
                <a:solidFill>
                  <a:srgbClr val="1F1E1E"/>
                </a:solidFill>
                <a:latin typeface="Red Hat Text"/>
                <a:ea typeface="Red Hat Text"/>
                <a:cs typeface="Red Hat Text"/>
              </a:rPr>
              <a:t> longitudinal · </a:t>
            </a:r>
            <a:r>
              <a:rPr lang="en-US" sz="1400" dirty="0" err="1">
                <a:solidFill>
                  <a:srgbClr val="1F1E1E"/>
                </a:solidFill>
                <a:latin typeface="Red Hat Text"/>
                <a:ea typeface="Red Hat Text"/>
                <a:cs typeface="Red Hat Text"/>
              </a:rPr>
              <a:t>Suecia</a:t>
            </a:r>
            <a:endParaRPr lang="en-US" sz="1400">
              <a:latin typeface="Red Hat Text"/>
              <a:ea typeface="Red Hat Text"/>
              <a:cs typeface="Red Hat Text"/>
            </a:endParaRPr>
          </a:p>
        </p:txBody>
      </p:sp>
      <p:sp>
        <p:nvSpPr>
          <p:cNvPr id="5" name="Text 2"/>
          <p:cNvSpPr/>
          <p:nvPr/>
        </p:nvSpPr>
        <p:spPr>
          <a:xfrm>
            <a:off x="5972845" y="2340620"/>
            <a:ext cx="2652266" cy="485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Variables </a:t>
            </a:r>
            <a:r>
              <a:rPr lang="en-US" sz="11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predictoras</a:t>
            </a:r>
            <a:r>
              <a:rPr lang="en-US" sz="11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: </a:t>
            </a:r>
            <a:r>
              <a:rPr lang="en-US" sz="11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tiempo</a:t>
            </a:r>
            <a:r>
              <a:rPr lang="en-US" sz="11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de </a:t>
            </a:r>
            <a:r>
              <a:rPr lang="en-US" sz="11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pantalla</a:t>
            </a:r>
            <a:r>
              <a:rPr lang="en-US" sz="11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, </a:t>
            </a:r>
            <a:r>
              <a:rPr lang="en-US" sz="11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calidad</a:t>
            </a:r>
            <a:r>
              <a:rPr lang="en-US" sz="11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y </a:t>
            </a:r>
            <a:r>
              <a:rPr lang="en-US" sz="11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duración</a:t>
            </a:r>
            <a:r>
              <a:rPr lang="en-US" sz="11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del </a:t>
            </a:r>
            <a:r>
              <a:rPr lang="en-US" sz="11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sueño</a:t>
            </a:r>
            <a:endParaRPr lang="en-US" sz="1100">
              <a:latin typeface="Roboto Light"/>
              <a:ea typeface="Roboto Light"/>
              <a:cs typeface="Roboto Light"/>
            </a:endParaRPr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Variable </a:t>
            </a:r>
            <a:r>
              <a:rPr lang="en-US" sz="11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objetivo</a:t>
            </a:r>
            <a:r>
              <a:rPr lang="en-US" sz="11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: </a:t>
            </a:r>
            <a:r>
              <a:rPr lang="en-US" sz="1100" b="1" dirty="0">
                <a:solidFill>
                  <a:srgbClr val="3B3535"/>
                </a:solidFill>
                <a:latin typeface="Roboto Bold"/>
                <a:ea typeface="Roboto Bold"/>
                <a:cs typeface="Roboto Bold"/>
              </a:rPr>
              <a:t>BDI-II</a:t>
            </a:r>
            <a:r>
              <a:rPr lang="en-US" sz="11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(0–63)</a:t>
            </a:r>
            <a:endParaRPr lang="en-US" sz="1000" dirty="0">
              <a:latin typeface="Roboto Light"/>
              <a:ea typeface="Roboto Light"/>
              <a:cs typeface="Roboto Light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23577" y="4111377"/>
            <a:ext cx="2640509" cy="611758"/>
          </a:xfrm>
          <a:prstGeom prst="roundRect">
            <a:avLst>
              <a:gd name="adj" fmla="val 2809"/>
            </a:avLst>
          </a:prstGeom>
          <a:solidFill>
            <a:srgbClr val="F3E8E8"/>
          </a:solidFill>
          <a:ln/>
        </p:spPr>
      </p:sp>
      <p:sp>
        <p:nvSpPr>
          <p:cNvPr id="7" name="Text 4"/>
          <p:cNvSpPr/>
          <p:nvPr/>
        </p:nvSpPr>
        <p:spPr>
          <a:xfrm>
            <a:off x="638101" y="4225900"/>
            <a:ext cx="2411462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Red Hat Text"/>
                <a:ea typeface="Red Hat Text"/>
                <a:cs typeface="Red Hat Text"/>
              </a:rPr>
              <a:t>4.810</a:t>
            </a:r>
            <a:endParaRPr lang="en-US" dirty="0">
              <a:latin typeface="Red Hat Text"/>
              <a:ea typeface="Red Hat Text"/>
              <a:cs typeface="Red Hat Text"/>
            </a:endParaRPr>
          </a:p>
        </p:txBody>
      </p:sp>
      <p:sp>
        <p:nvSpPr>
          <p:cNvPr id="8" name="Text 5"/>
          <p:cNvSpPr/>
          <p:nvPr/>
        </p:nvSpPr>
        <p:spPr>
          <a:xfrm>
            <a:off x="638101" y="4446910"/>
            <a:ext cx="2411462" cy="16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Adolescentes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51746" y="4111377"/>
            <a:ext cx="2640509" cy="611758"/>
          </a:xfrm>
          <a:prstGeom prst="roundRect">
            <a:avLst>
              <a:gd name="adj" fmla="val 2809"/>
            </a:avLst>
          </a:prstGeom>
          <a:solidFill>
            <a:srgbClr val="F3E8E8"/>
          </a:solidFill>
          <a:ln/>
        </p:spPr>
      </p:sp>
      <p:sp>
        <p:nvSpPr>
          <p:cNvPr id="10" name="Text 7"/>
          <p:cNvSpPr/>
          <p:nvPr/>
        </p:nvSpPr>
        <p:spPr>
          <a:xfrm>
            <a:off x="3366269" y="4225900"/>
            <a:ext cx="2411462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Red Hat Text"/>
                <a:ea typeface="Red Hat Text"/>
                <a:cs typeface="Red Hat Text"/>
              </a:rPr>
              <a:t>80%</a:t>
            </a:r>
            <a:endParaRPr lang="en-US">
              <a:latin typeface="Avenir Next LT Pro"/>
              <a:ea typeface="Red Hat Text"/>
              <a:cs typeface="Red Hat Text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366269" y="4446910"/>
            <a:ext cx="2411462" cy="16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Entrenamiento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79914" y="4111377"/>
            <a:ext cx="2640509" cy="611758"/>
          </a:xfrm>
          <a:prstGeom prst="roundRect">
            <a:avLst>
              <a:gd name="adj" fmla="val 2809"/>
            </a:avLst>
          </a:prstGeom>
          <a:solidFill>
            <a:srgbClr val="F3E8E8"/>
          </a:solidFill>
          <a:ln/>
        </p:spPr>
      </p:sp>
      <p:sp>
        <p:nvSpPr>
          <p:cNvPr id="13" name="Text 10"/>
          <p:cNvSpPr/>
          <p:nvPr/>
        </p:nvSpPr>
        <p:spPr>
          <a:xfrm>
            <a:off x="6094437" y="4225900"/>
            <a:ext cx="2411462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3B3535"/>
                </a:solidFill>
                <a:latin typeface="Red Hat Text"/>
                <a:ea typeface="Red Hat Text"/>
                <a:cs typeface="Red Hat Text"/>
              </a:rPr>
              <a:t>20%</a:t>
            </a:r>
            <a:endParaRPr lang="en-US">
              <a:latin typeface="Avenir Next LT Pro"/>
              <a:ea typeface="Red Hat Text"/>
              <a:cs typeface="Red Hat Text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094437" y="4446910"/>
            <a:ext cx="2411462" cy="16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Prueba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27819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Arquitectura de la Red Neuronal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07" y="1267048"/>
            <a:ext cx="7837512" cy="29409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5840" y="3500793"/>
            <a:ext cx="1182130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Salida BDI-II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496033" y="3500793"/>
            <a:ext cx="1182130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Dense 16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14321" y="3500793"/>
            <a:ext cx="1182130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Dense 32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532610" y="3500793"/>
            <a:ext cx="1182130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Dense 64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18512" y="3500793"/>
            <a:ext cx="1182130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Entrada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23577" y="4376291"/>
            <a:ext cx="8554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ReLU · Adam · MSE · MAE · EarlyStopping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4979"/>
            <a:ext cx="8096845" cy="33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Implementación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975866"/>
            <a:ext cx="5167089" cy="29279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69124" y="2162398"/>
            <a:ext cx="2655987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Red Hat Text"/>
                <a:ea typeface="Red Hat Text"/>
                <a:cs typeface="Red Hat Text"/>
              </a:rPr>
              <a:t>Stack </a:t>
            </a:r>
            <a:r>
              <a:rPr lang="en-US" sz="1400" dirty="0" err="1">
                <a:solidFill>
                  <a:srgbClr val="1F1E1E"/>
                </a:solidFill>
                <a:latin typeface="Red Hat Text"/>
                <a:ea typeface="Red Hat Text"/>
                <a:cs typeface="Red Hat Text"/>
              </a:rPr>
              <a:t>tecnológico</a:t>
            </a:r>
            <a:endParaRPr lang="en-US" sz="1400">
              <a:latin typeface="Avenir Next LT Pro"/>
              <a:ea typeface="Red Hat Text"/>
              <a:cs typeface="Red Hat Text"/>
            </a:endParaRPr>
          </a:p>
        </p:txBody>
      </p:sp>
      <p:sp>
        <p:nvSpPr>
          <p:cNvPr id="5" name="Text 2"/>
          <p:cNvSpPr/>
          <p:nvPr/>
        </p:nvSpPr>
        <p:spPr>
          <a:xfrm>
            <a:off x="5969124" y="2411462"/>
            <a:ext cx="2655987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Preprocesamiento</a:t>
            </a:r>
            <a:r>
              <a:rPr lang="en-US" sz="11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: </a:t>
            </a:r>
            <a:r>
              <a:rPr lang="en-US" sz="1100" b="1" dirty="0" err="1">
                <a:solidFill>
                  <a:srgbClr val="3B3535"/>
                </a:solidFill>
                <a:latin typeface="Roboto Bold"/>
                <a:ea typeface="Roboto Bold"/>
                <a:cs typeface="Roboto Bold"/>
              </a:rPr>
              <a:t>StandardScaler</a:t>
            </a:r>
            <a:r>
              <a:rPr lang="en-US" sz="11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1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ajustado</a:t>
            </a:r>
            <a:r>
              <a:rPr lang="en-US" sz="11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solo </a:t>
            </a:r>
            <a:r>
              <a:rPr lang="en-US" sz="11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sobre</a:t>
            </a:r>
            <a:r>
              <a:rPr lang="en-US" sz="11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1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entrenamiento</a:t>
            </a:r>
            <a:r>
              <a:rPr lang="en-US" sz="11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para </a:t>
            </a:r>
            <a:r>
              <a:rPr lang="en-US" sz="11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evitar</a:t>
            </a:r>
            <a:r>
              <a:rPr lang="en-US" sz="11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1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fuga</a:t>
            </a:r>
            <a:r>
              <a:rPr lang="en-US" sz="11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de </a:t>
            </a:r>
            <a:r>
              <a:rPr lang="en-US" sz="11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información</a:t>
            </a:r>
            <a:endParaRPr lang="en-US" sz="1100">
              <a:latin typeface="Avenir Next LT Pro"/>
              <a:ea typeface="Roboto Light"/>
              <a:cs typeface="Roboto Light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23577" y="4093146"/>
            <a:ext cx="2642890" cy="625376"/>
          </a:xfrm>
          <a:prstGeom prst="roundRect">
            <a:avLst>
              <a:gd name="adj" fmla="val 2691"/>
            </a:avLst>
          </a:prstGeom>
          <a:solidFill>
            <a:srgbClr val="FFFAFA"/>
          </a:solidFill>
          <a:ln w="14288">
            <a:solidFill>
              <a:srgbClr val="D9CEC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0007" y="4219575"/>
            <a:ext cx="2390031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ed Hat Text"/>
                <a:ea typeface="Red Hat Text"/>
                <a:cs typeface="Red Hat Text"/>
              </a:rPr>
              <a:t>Python</a:t>
            </a:r>
            <a:endParaRPr lang="en-US" sz="1200" dirty="0">
              <a:latin typeface="Red Hat Text"/>
              <a:ea typeface="Red Hat Text"/>
              <a:cs typeface="Red Hat Text"/>
            </a:endParaRPr>
          </a:p>
        </p:txBody>
      </p:sp>
      <p:sp>
        <p:nvSpPr>
          <p:cNvPr id="8" name="Text 5"/>
          <p:cNvSpPr/>
          <p:nvPr/>
        </p:nvSpPr>
        <p:spPr>
          <a:xfrm>
            <a:off x="650007" y="4435004"/>
            <a:ext cx="2390031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Lenguaje base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50555" y="4093146"/>
            <a:ext cx="2642890" cy="625376"/>
          </a:xfrm>
          <a:prstGeom prst="roundRect">
            <a:avLst>
              <a:gd name="adj" fmla="val 2691"/>
            </a:avLst>
          </a:prstGeom>
          <a:solidFill>
            <a:srgbClr val="FFFAFA"/>
          </a:solidFill>
          <a:ln w="14288">
            <a:solidFill>
              <a:srgbClr val="D9CEC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76985" y="4219575"/>
            <a:ext cx="2390031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ed Hat Text"/>
                <a:ea typeface="Red Hat Text"/>
                <a:cs typeface="Red Hat Text"/>
              </a:rPr>
              <a:t>TensorFlow / </a:t>
            </a:r>
            <a:r>
              <a:rPr lang="en-US" sz="1400" dirty="0" err="1">
                <a:solidFill>
                  <a:srgbClr val="3B3535"/>
                </a:solidFill>
                <a:latin typeface="Red Hat Text"/>
                <a:ea typeface="Red Hat Text"/>
                <a:cs typeface="Red Hat Text"/>
              </a:rPr>
              <a:t>Keras</a:t>
            </a:r>
            <a:endParaRPr lang="en-US" sz="1400">
              <a:latin typeface="Avenir Next LT Pro"/>
              <a:ea typeface="Red Hat Text"/>
              <a:cs typeface="Red Hat Text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376985" y="4435004"/>
            <a:ext cx="2390031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Framework DL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77533" y="4093146"/>
            <a:ext cx="2642890" cy="625376"/>
          </a:xfrm>
          <a:prstGeom prst="roundRect">
            <a:avLst>
              <a:gd name="adj" fmla="val 2691"/>
            </a:avLst>
          </a:prstGeom>
          <a:solidFill>
            <a:srgbClr val="FFFAFA"/>
          </a:solidFill>
          <a:ln w="14288">
            <a:solidFill>
              <a:srgbClr val="D9CEC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03962" y="4219575"/>
            <a:ext cx="2390031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ed Hat Text"/>
                <a:ea typeface="Red Hat Text"/>
                <a:cs typeface="Red Hat Text"/>
              </a:rPr>
              <a:t>Google </a:t>
            </a:r>
            <a:r>
              <a:rPr lang="en-US" sz="1400" dirty="0" err="1">
                <a:solidFill>
                  <a:srgbClr val="3B3535"/>
                </a:solidFill>
                <a:latin typeface="Red Hat Text"/>
                <a:ea typeface="Red Hat Text"/>
                <a:cs typeface="Red Hat Text"/>
              </a:rPr>
              <a:t>Colab</a:t>
            </a:r>
            <a:endParaRPr lang="en-US" sz="1400">
              <a:latin typeface="Avenir Next LT Pro"/>
              <a:ea typeface="Red Hat Text"/>
              <a:cs typeface="Red Hat Text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103962" y="4435004"/>
            <a:ext cx="2390031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Entorno de desarrollo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7091"/>
            <a:ext cx="8096845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Resultados del Modelo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523577" y="869677"/>
            <a:ext cx="8101491" cy="316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50" b="1" dirty="0">
                <a:solidFill>
                  <a:schemeClr val="bg1"/>
                </a:solidFill>
                <a:highlight>
                  <a:srgbClr val="FF0000"/>
                </a:highlight>
                <a:latin typeface="Red Hat Text"/>
                <a:ea typeface="Red Hat Text"/>
                <a:cs typeface="Red Hat Text"/>
              </a:rPr>
              <a:t>3.2</a:t>
            </a:r>
          </a:p>
        </p:txBody>
      </p:sp>
      <p:sp>
        <p:nvSpPr>
          <p:cNvPr id="4" name="Text 2"/>
          <p:cNvSpPr/>
          <p:nvPr/>
        </p:nvSpPr>
        <p:spPr>
          <a:xfrm>
            <a:off x="523577" y="1279847"/>
            <a:ext cx="8096845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MAE (puntos BDI-II)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23577" y="1457548"/>
            <a:ext cx="8096845" cy="1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9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Error absoluto medio sobre la escala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23577" y="2554301"/>
            <a:ext cx="2681883" cy="498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 err="1">
                <a:solidFill>
                  <a:srgbClr val="1F1E1E"/>
                </a:solidFill>
                <a:latin typeface="Red Hat Text"/>
                <a:ea typeface="Red Hat Text"/>
                <a:cs typeface="Red Hat Text"/>
              </a:rPr>
              <a:t>Desempeño</a:t>
            </a:r>
            <a:endParaRPr lang="en-US" sz="1400" dirty="0" err="1">
              <a:latin typeface="Red Hat Text"/>
              <a:ea typeface="Red Hat Text"/>
              <a:cs typeface="Red Hat Text"/>
            </a:endParaRPr>
          </a:p>
        </p:txBody>
      </p:sp>
      <p:sp>
        <p:nvSpPr>
          <p:cNvPr id="7" name="Text 5"/>
          <p:cNvSpPr/>
          <p:nvPr/>
        </p:nvSpPr>
        <p:spPr>
          <a:xfrm>
            <a:off x="523577" y="2891303"/>
            <a:ext cx="2681883" cy="996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09000"/>
              </a:lnSpc>
              <a:buSzPct val="100000"/>
            </a:pP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   Sin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evidencia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de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sobreajuste</a:t>
            </a:r>
            <a:endParaRPr lang="en-US" sz="1200" dirty="0" err="1">
              <a:latin typeface="Roboto Light"/>
              <a:ea typeface="Roboto Light"/>
              <a:cs typeface="Roboto Light"/>
            </a:endParaRPr>
          </a:p>
          <a:p>
            <a:pPr marL="152400" indent="-152400" algn="l">
              <a:lnSpc>
                <a:spcPct val="109000"/>
              </a:lnSpc>
              <a:buSzPct val="100000"/>
              <a:buChar char="•"/>
            </a:pP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Curvas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entrenamiento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/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validación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convergentes</a:t>
            </a:r>
            <a:endParaRPr lang="en-US" sz="1200">
              <a:latin typeface="Roboto Light"/>
              <a:ea typeface="Roboto Light"/>
              <a:cs typeface="Roboto Light"/>
            </a:endParaRPr>
          </a:p>
          <a:p>
            <a:pPr marL="152400" indent="-152400" algn="l">
              <a:lnSpc>
                <a:spcPct val="109000"/>
              </a:lnSpc>
              <a:buSzPct val="100000"/>
              <a:buChar char="•"/>
            </a:pP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Generalización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adecuada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en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datos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de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prueba</a:t>
            </a:r>
            <a:endParaRPr lang="en-US" sz="1050" dirty="0" err="1">
              <a:latin typeface="Roboto Light"/>
              <a:ea typeface="Roboto Light"/>
              <a:cs typeface="Roboto Light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032" y="1721421"/>
            <a:ext cx="5181079" cy="29359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28923"/>
            <a:ext cx="4667845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Evaluación Ética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3952577" y="1025277"/>
            <a:ext cx="5125045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¿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Puede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un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modelo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ser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preciso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y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aun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así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generar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2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riesgos</a:t>
            </a:r>
            <a:r>
              <a:rPr lang="en-US" sz="12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?</a:t>
            </a:r>
            <a:endParaRPr lang="en-US" sz="1200">
              <a:latin typeface="Roboto Light"/>
              <a:ea typeface="Roboto Light"/>
              <a:cs typeface="Roboto Light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2577" y="1380232"/>
            <a:ext cx="4667845" cy="8049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85717" y="1537171"/>
            <a:ext cx="4277767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 err="1">
                <a:solidFill>
                  <a:srgbClr val="3B3535"/>
                </a:solidFill>
                <a:latin typeface="Red Hat Text"/>
                <a:ea typeface="Red Hat Text"/>
                <a:cs typeface="Red Hat Text"/>
              </a:rPr>
              <a:t>Representatividad</a:t>
            </a:r>
            <a:endParaRPr lang="en-US" sz="1400" err="1">
              <a:latin typeface="Red Hat Text"/>
              <a:ea typeface="Red Hat Text"/>
              <a:cs typeface="Red Hat Text"/>
            </a:endParaRPr>
          </a:p>
        </p:txBody>
      </p:sp>
      <p:sp>
        <p:nvSpPr>
          <p:cNvPr id="7" name="Text 3"/>
          <p:cNvSpPr/>
          <p:nvPr/>
        </p:nvSpPr>
        <p:spPr>
          <a:xfrm>
            <a:off x="4185717" y="1816298"/>
            <a:ext cx="4277767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Datos de adolescentes suecos; posible sesgo demográfico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2577" y="2312268"/>
            <a:ext cx="4667845" cy="8049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85717" y="2469207"/>
            <a:ext cx="4277767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Red Hat Text"/>
                <a:ea typeface="Red Hat Text"/>
                <a:cs typeface="Red Hat Text"/>
              </a:rPr>
              <a:t>Uso </a:t>
            </a:r>
            <a:r>
              <a:rPr lang="en-US" sz="1400" dirty="0" err="1">
                <a:solidFill>
                  <a:srgbClr val="3B3535"/>
                </a:solidFill>
                <a:latin typeface="Red Hat Text"/>
                <a:ea typeface="Red Hat Text"/>
                <a:cs typeface="Red Hat Text"/>
              </a:rPr>
              <a:t>indebido</a:t>
            </a:r>
            <a:endParaRPr lang="en-US" sz="1400" err="1">
              <a:latin typeface="Red Hat Text"/>
              <a:ea typeface="Red Hat Text"/>
              <a:cs typeface="Red Hat Text"/>
            </a:endParaRPr>
          </a:p>
        </p:txBody>
      </p:sp>
      <p:sp>
        <p:nvSpPr>
          <p:cNvPr id="10" name="Text 5"/>
          <p:cNvSpPr/>
          <p:nvPr/>
        </p:nvSpPr>
        <p:spPr>
          <a:xfrm>
            <a:off x="4185717" y="2748335"/>
            <a:ext cx="4277767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Riesgo de decisiones injustas sin supervisión clínica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2577" y="3244304"/>
            <a:ext cx="4667845" cy="80493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185717" y="3401244"/>
            <a:ext cx="4277767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 err="1">
                <a:solidFill>
                  <a:srgbClr val="3B3535"/>
                </a:solidFill>
                <a:latin typeface="Red Hat Text"/>
                <a:ea typeface="Red Hat Text"/>
                <a:cs typeface="Red Hat Text"/>
              </a:rPr>
              <a:t>Privacidad</a:t>
            </a:r>
            <a:endParaRPr lang="en-US" sz="1400">
              <a:latin typeface="Avenir Next LT Pro"/>
              <a:ea typeface="Red Hat Text"/>
              <a:cs typeface="Red Hat Text"/>
            </a:endParaRPr>
          </a:p>
        </p:txBody>
      </p:sp>
      <p:sp>
        <p:nvSpPr>
          <p:cNvPr id="13" name="Text 7"/>
          <p:cNvSpPr/>
          <p:nvPr/>
        </p:nvSpPr>
        <p:spPr>
          <a:xfrm>
            <a:off x="4185717" y="3680371"/>
            <a:ext cx="4277767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Datos sensibles de menores requieren protección estricta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3952577" y="4192265"/>
            <a:ext cx="4667845" cy="522312"/>
          </a:xfrm>
          <a:prstGeom prst="roundRect">
            <a:avLst>
              <a:gd name="adj" fmla="val 3961"/>
            </a:avLst>
          </a:prstGeom>
          <a:solidFill>
            <a:srgbClr val="FAD1D1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0467" y="4386783"/>
            <a:ext cx="172343" cy="13788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400699" y="4353818"/>
            <a:ext cx="4539035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 IA debe </a:t>
            </a: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apoyar, no reemplazar</a:t>
            </a:r>
            <a:r>
              <a:rPr lang="en-US" sz="130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al profesional clínico.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73906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Limitaciones, Futuro y Conclusiones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587847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 err="1">
                <a:solidFill>
                  <a:srgbClr val="1F1E1E"/>
                </a:solidFill>
                <a:latin typeface="Red Hat Text"/>
                <a:ea typeface="Red Hat Text"/>
                <a:cs typeface="Red Hat Text"/>
              </a:rPr>
              <a:t>Limitaciones</a:t>
            </a:r>
            <a:r>
              <a:rPr lang="en-US" sz="1600" dirty="0">
                <a:solidFill>
                  <a:srgbClr val="1F1E1E"/>
                </a:solidFill>
                <a:latin typeface="Red Hat Text"/>
                <a:ea typeface="Red Hat Text"/>
                <a:cs typeface="Red Hat Text"/>
              </a:rPr>
              <a:t> </a:t>
            </a:r>
            <a:r>
              <a:rPr lang="en-US" sz="1600" dirty="0" err="1">
                <a:solidFill>
                  <a:srgbClr val="1F1E1E"/>
                </a:solidFill>
                <a:latin typeface="Red Hat Text"/>
                <a:ea typeface="Red Hat Text"/>
                <a:cs typeface="Red Hat Text"/>
              </a:rPr>
              <a:t>actuales</a:t>
            </a:r>
            <a:endParaRPr lang="en-US" sz="1600">
              <a:latin typeface="Red Hat Text"/>
              <a:ea typeface="Red Hat Text"/>
              <a:cs typeface="Red Hat Text"/>
            </a:endParaRPr>
          </a:p>
        </p:txBody>
      </p:sp>
      <p:sp>
        <p:nvSpPr>
          <p:cNvPr id="4" name="Text 2"/>
          <p:cNvSpPr/>
          <p:nvPr/>
        </p:nvSpPr>
        <p:spPr>
          <a:xfrm>
            <a:off x="523577" y="1957388"/>
            <a:ext cx="3865959" cy="1114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Una sola población (</a:t>
            </a: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Suecia</a:t>
            </a: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)</a:t>
            </a:r>
            <a:endParaRPr lang="en-US" sz="1400">
              <a:latin typeface="Roboto Light"/>
              <a:ea typeface="Roboto Light"/>
              <a:cs typeface="Roboto Light"/>
            </a:endParaRPr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Sin </a:t>
            </a: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causalidad</a:t>
            </a: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demostrada</a:t>
            </a:r>
            <a:endParaRPr lang="en-US" sz="1400">
              <a:latin typeface="Roboto Light"/>
              <a:ea typeface="Roboto Light"/>
              <a:cs typeface="Roboto Light"/>
            </a:endParaRPr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Pocas</a:t>
            </a: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variables </a:t>
            </a: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predictoras</a:t>
            </a:r>
            <a:endParaRPr lang="en-US" sz="1400">
              <a:latin typeface="Roboto Light"/>
              <a:ea typeface="Roboto Light"/>
              <a:cs typeface="Roboto Light"/>
            </a:endParaRPr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Sin </a:t>
            </a: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evaluación</a:t>
            </a: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de </a:t>
            </a: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equidad</a:t>
            </a: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por</a:t>
            </a: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subgrupos</a:t>
            </a:r>
            <a:endParaRPr lang="en-US" sz="1200" dirty="0" err="1">
              <a:latin typeface="Roboto Light"/>
              <a:ea typeface="Roboto Light"/>
              <a:cs typeface="Roboto Ligh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59226" y="1587847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 err="1">
                <a:solidFill>
                  <a:srgbClr val="1F1E1E"/>
                </a:solidFill>
                <a:latin typeface="Red Hat Text"/>
                <a:ea typeface="Red Hat Text"/>
                <a:cs typeface="Red Hat Text"/>
              </a:rPr>
              <a:t>Trabajo</a:t>
            </a:r>
            <a:r>
              <a:rPr lang="en-US" sz="1600" dirty="0">
                <a:solidFill>
                  <a:srgbClr val="1F1E1E"/>
                </a:solidFill>
                <a:latin typeface="Red Hat Text"/>
                <a:ea typeface="Red Hat Text"/>
                <a:cs typeface="Red Hat Text"/>
              </a:rPr>
              <a:t> </a:t>
            </a:r>
            <a:r>
              <a:rPr lang="en-US" sz="1600" dirty="0" err="1">
                <a:solidFill>
                  <a:srgbClr val="1F1E1E"/>
                </a:solidFill>
                <a:latin typeface="Red Hat Text"/>
                <a:ea typeface="Red Hat Text"/>
                <a:cs typeface="Red Hat Text"/>
              </a:rPr>
              <a:t>futuro</a:t>
            </a:r>
            <a:endParaRPr lang="en-US" sz="1600">
              <a:latin typeface="Avenir Next LT Pro"/>
              <a:ea typeface="Red Hat Text"/>
              <a:cs typeface="Red Hat Text"/>
            </a:endParaRPr>
          </a:p>
        </p:txBody>
      </p:sp>
      <p:sp>
        <p:nvSpPr>
          <p:cNvPr id="6" name="Text 4"/>
          <p:cNvSpPr/>
          <p:nvPr/>
        </p:nvSpPr>
        <p:spPr>
          <a:xfrm>
            <a:off x="4759226" y="1957388"/>
            <a:ext cx="3865959" cy="1353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Más variables y redes </a:t>
            </a: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recurrentes</a:t>
            </a:r>
            <a:endParaRPr lang="en-US" sz="1400">
              <a:latin typeface="Avenir Next LT Pro"/>
              <a:ea typeface="Roboto Light"/>
              <a:cs typeface="Roboto Light"/>
            </a:endParaRPr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Aprendizaje</a:t>
            </a: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por</a:t>
            </a: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refuerzo</a:t>
            </a: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para </a:t>
            </a: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intervenciones</a:t>
            </a: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personalizadas</a:t>
            </a:r>
            <a:endParaRPr lang="en-US" sz="1400">
              <a:latin typeface="Avenir Next LT Pro"/>
              <a:ea typeface="Roboto Light"/>
              <a:cs typeface="Roboto Light"/>
            </a:endParaRPr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Evaluación</a:t>
            </a: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rigurosa</a:t>
            </a: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de </a:t>
            </a: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equidad</a:t>
            </a:r>
            <a:endParaRPr lang="en-US" sz="1400">
              <a:latin typeface="Avenir Next LT Pro"/>
              <a:ea typeface="Roboto Light"/>
              <a:cs typeface="Roboto Light"/>
            </a:endParaRPr>
          </a:p>
          <a:p>
            <a:pPr marL="233680" indent="-233680" algn="l">
              <a:lnSpc>
                <a:spcPct val="133000"/>
              </a:lnSpc>
              <a:buSzPct val="100000"/>
              <a:buChar char="•"/>
            </a:pP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Optimización</a:t>
            </a:r>
            <a:r>
              <a:rPr lang="en-US" sz="1400" dirty="0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 de </a:t>
            </a:r>
            <a:r>
              <a:rPr lang="en-US" sz="1400" dirty="0" err="1">
                <a:solidFill>
                  <a:srgbClr val="3B3535"/>
                </a:solidFill>
                <a:latin typeface="Roboto Light"/>
                <a:ea typeface="Roboto Light"/>
                <a:cs typeface="Roboto Light"/>
              </a:rPr>
              <a:t>hiperparámetros</a:t>
            </a:r>
            <a:endParaRPr lang="en-US" sz="1400" dirty="0" err="1">
              <a:latin typeface="Roboto Light"/>
              <a:ea typeface="Roboto Light"/>
              <a:cs typeface="Roboto Ligh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23577" y="3531840"/>
            <a:ext cx="8096845" cy="837679"/>
          </a:xfrm>
          <a:prstGeom prst="roundRect">
            <a:avLst>
              <a:gd name="adj" fmla="val 2679"/>
            </a:avLst>
          </a:prstGeom>
          <a:solidFill>
            <a:srgbClr val="B6FCB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50" y="3749799"/>
            <a:ext cx="187003" cy="1495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9724" y="3718768"/>
            <a:ext cx="7461126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El </a:t>
            </a:r>
            <a:r>
              <a:rPr lang="en-US" sz="1400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modelo</a:t>
            </a:r>
            <a:r>
              <a:rPr lang="en-US" sz="1400" dirty="0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demuestra</a:t>
            </a:r>
            <a:r>
              <a:rPr lang="en-US" sz="1400" dirty="0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viabilidad</a:t>
            </a:r>
            <a:r>
              <a:rPr lang="en-US" sz="1400" b="1" dirty="0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Roboto Bold"/>
                <a:ea typeface="Roboto Bold"/>
                <a:cs typeface="Roboto Bold"/>
              </a:rPr>
              <a:t>técnica</a:t>
            </a:r>
            <a:r>
              <a:rPr lang="en-US" sz="1400" dirty="0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 y </a:t>
            </a:r>
            <a:r>
              <a:rPr lang="en-US" sz="1400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generaliza</a:t>
            </a:r>
            <a:r>
              <a:rPr lang="en-US" sz="1400" dirty="0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adecuadamente</a:t>
            </a:r>
            <a:r>
              <a:rPr lang="en-US" sz="1400" dirty="0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pero</a:t>
            </a:r>
            <a:r>
              <a:rPr lang="en-US" sz="1400" dirty="0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su</a:t>
            </a:r>
            <a:r>
              <a:rPr lang="en-US" sz="1400" dirty="0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uso</a:t>
            </a:r>
            <a:r>
              <a:rPr lang="en-US" sz="1400" dirty="0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responsable</a:t>
            </a:r>
            <a:r>
              <a:rPr lang="en-US" sz="1400" dirty="0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exige</a:t>
            </a:r>
            <a:r>
              <a:rPr lang="en-US" sz="1400" dirty="0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transparencia</a:t>
            </a:r>
            <a:r>
              <a:rPr lang="en-US" sz="1400" dirty="0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evaluación</a:t>
            </a:r>
            <a:r>
              <a:rPr lang="en-US" sz="1400" dirty="0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ética</a:t>
            </a:r>
            <a:r>
              <a:rPr lang="en-US" sz="1400" dirty="0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 continua y </a:t>
            </a:r>
            <a:r>
              <a:rPr lang="en-US" sz="1400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supervisión</a:t>
            </a:r>
            <a:r>
              <a:rPr lang="en-US" sz="1400" dirty="0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clínica</a:t>
            </a:r>
            <a:r>
              <a:rPr lang="en-US" sz="1400" dirty="0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profesional</a:t>
            </a:r>
            <a:r>
              <a:rPr lang="en-US" sz="1400" dirty="0">
                <a:solidFill>
                  <a:srgbClr val="000000"/>
                </a:solidFill>
                <a:latin typeface="Roboto Light"/>
                <a:ea typeface="Roboto Light"/>
                <a:cs typeface="Roboto Light"/>
              </a:rPr>
              <a:t>.</a:t>
            </a:r>
            <a:endParaRPr lang="en-US" sz="1200" dirty="0">
              <a:latin typeface="Roboto Light"/>
              <a:ea typeface="Roboto Light"/>
              <a:cs typeface="Roboto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niceBeachVTI">
  <a:themeElements>
    <a:clrScheme name="VeniceBeachVTI">
      <a:dk1>
        <a:sysClr val="windowText" lastClr="000000"/>
      </a:dk1>
      <a:lt1>
        <a:sysClr val="window" lastClr="FFFFFF"/>
      </a:lt1>
      <a:dk2>
        <a:srgbClr val="2B3E3D"/>
      </a:dk2>
      <a:lt2>
        <a:srgbClr val="FEF3EB"/>
      </a:lt2>
      <a:accent1>
        <a:srgbClr val="FE8542"/>
      </a:accent1>
      <a:accent2>
        <a:srgbClr val="EC6D60"/>
      </a:accent2>
      <a:accent3>
        <a:srgbClr val="CDA32B"/>
      </a:accent3>
      <a:accent4>
        <a:srgbClr val="EE66A7"/>
      </a:accent4>
      <a:accent5>
        <a:srgbClr val="EA5F48"/>
      </a:accent5>
      <a:accent6>
        <a:srgbClr val="C8466B"/>
      </a:accent6>
      <a:hlink>
        <a:srgbClr val="E46153"/>
      </a:hlink>
      <a:folHlink>
        <a:srgbClr val="CF63B0"/>
      </a:folHlink>
    </a:clrScheme>
    <a:fontScheme name="VeniceBeachVTI">
      <a:majorFont>
        <a:latin typeface="Avenir Next LT Pro Light"/>
        <a:ea typeface=""/>
        <a:cs typeface=""/>
      </a:majorFont>
      <a:minorFont>
        <a:latin typeface="Avenir Next LT Pro"/>
        <a:ea typeface=""/>
        <a:cs typeface=""/>
      </a:minorFont>
    </a:fontScheme>
    <a:fmtScheme name="VeniceBeac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eniceBeachVTI" id="{54706E44-6516-4822-8F8F-6BA182D64AC9}" vid="{F71BAAD1-41E5-4D56-97E1-12A04B86E57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Presentación en pantalla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VeniceBeachVTI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77</cp:revision>
  <dcterms:created xsi:type="dcterms:W3CDTF">2026-07-26T23:35:48Z</dcterms:created>
  <dcterms:modified xsi:type="dcterms:W3CDTF">2026-07-26T23:51:52Z</dcterms:modified>
</cp:coreProperties>
</file>